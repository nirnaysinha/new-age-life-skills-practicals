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697B16-99D9-5ED0-AA0E-7AECAE656C6E}" v="62" dt="2026-01-04T20:29:36.727"/>
    <p1510:client id="{E7C1D632-B6F1-452C-86C6-0E719F088883}" v="9" dt="2026-01-04T20:13:13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8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nay Sinha" userId="3e82d8b058969bb5" providerId="LiveId" clId="{726D8383-A192-4D8D-87C1-67A88BA9C6CB}"/>
    <pc:docChg chg="modSld sldOrd">
      <pc:chgData name="Nirnay Sinha" userId="3e82d8b058969bb5" providerId="LiveId" clId="{726D8383-A192-4D8D-87C1-67A88BA9C6CB}" dt="2026-01-04T20:13:13.655" v="10"/>
      <pc:docMkLst>
        <pc:docMk/>
      </pc:docMkLst>
      <pc:sldChg chg="ord modTransition">
        <pc:chgData name="Nirnay Sinha" userId="3e82d8b058969bb5" providerId="LiveId" clId="{726D8383-A192-4D8D-87C1-67A88BA9C6CB}" dt="2026-01-04T20:12:35.111" v="3"/>
        <pc:sldMkLst>
          <pc:docMk/>
          <pc:sldMk cId="0" sldId="256"/>
        </pc:sldMkLst>
      </pc:sldChg>
      <pc:sldChg chg="modTransition">
        <pc:chgData name="Nirnay Sinha" userId="3e82d8b058969bb5" providerId="LiveId" clId="{726D8383-A192-4D8D-87C1-67A88BA9C6CB}" dt="2026-01-04T20:12:38.761" v="4"/>
        <pc:sldMkLst>
          <pc:docMk/>
          <pc:sldMk cId="0" sldId="257"/>
        </pc:sldMkLst>
      </pc:sldChg>
      <pc:sldChg chg="modTransition">
        <pc:chgData name="Nirnay Sinha" userId="3e82d8b058969bb5" providerId="LiveId" clId="{726D8383-A192-4D8D-87C1-67A88BA9C6CB}" dt="2026-01-04T20:12:42.677" v="5"/>
        <pc:sldMkLst>
          <pc:docMk/>
          <pc:sldMk cId="0" sldId="258"/>
        </pc:sldMkLst>
      </pc:sldChg>
      <pc:sldChg chg="modTransition">
        <pc:chgData name="Nirnay Sinha" userId="3e82d8b058969bb5" providerId="LiveId" clId="{726D8383-A192-4D8D-87C1-67A88BA9C6CB}" dt="2026-01-04T20:12:52.103" v="6"/>
        <pc:sldMkLst>
          <pc:docMk/>
          <pc:sldMk cId="0" sldId="259"/>
        </pc:sldMkLst>
      </pc:sldChg>
      <pc:sldChg chg="modTransition">
        <pc:chgData name="Nirnay Sinha" userId="3e82d8b058969bb5" providerId="LiveId" clId="{726D8383-A192-4D8D-87C1-67A88BA9C6CB}" dt="2026-01-04T20:13:00.653" v="7"/>
        <pc:sldMkLst>
          <pc:docMk/>
          <pc:sldMk cId="0" sldId="260"/>
        </pc:sldMkLst>
      </pc:sldChg>
      <pc:sldChg chg="modTransition">
        <pc:chgData name="Nirnay Sinha" userId="3e82d8b058969bb5" providerId="LiveId" clId="{726D8383-A192-4D8D-87C1-67A88BA9C6CB}" dt="2026-01-04T20:13:06.152" v="8"/>
        <pc:sldMkLst>
          <pc:docMk/>
          <pc:sldMk cId="0" sldId="261"/>
        </pc:sldMkLst>
      </pc:sldChg>
      <pc:sldChg chg="modTransition">
        <pc:chgData name="Nirnay Sinha" userId="3e82d8b058969bb5" providerId="LiveId" clId="{726D8383-A192-4D8D-87C1-67A88BA9C6CB}" dt="2026-01-04T20:13:10.104" v="9"/>
        <pc:sldMkLst>
          <pc:docMk/>
          <pc:sldMk cId="0" sldId="262"/>
        </pc:sldMkLst>
      </pc:sldChg>
      <pc:sldChg chg="modTransition">
        <pc:chgData name="Nirnay Sinha" userId="3e82d8b058969bb5" providerId="LiveId" clId="{726D8383-A192-4D8D-87C1-67A88BA9C6CB}" dt="2026-01-04T20:13:13.655" v="10"/>
        <pc:sldMkLst>
          <pc:docMk/>
          <pc:sldMk cId="0" sldId="263"/>
        </pc:sldMkLst>
      </pc:sldChg>
    </pc:docChg>
  </pc:docChgLst>
  <pc:docChgLst>
    <pc:chgData name="nirnaysinha1@gmail.com" userId="ae26420ed2190c1f" providerId="Windows Live" clId="Web-{72697B16-99D9-5ED0-AA0E-7AECAE656C6E}"/>
    <pc:docChg chg="modSld">
      <pc:chgData name="nirnaysinha1@gmail.com" userId="ae26420ed2190c1f" providerId="Windows Live" clId="Web-{72697B16-99D9-5ED0-AA0E-7AECAE656C6E}" dt="2026-01-04T20:29:36.727" v="61"/>
      <pc:docMkLst>
        <pc:docMk/>
      </pc:docMkLst>
      <pc:sldChg chg="modSp addAnim modAnim">
        <pc:chgData name="nirnaysinha1@gmail.com" userId="ae26420ed2190c1f" providerId="Windows Live" clId="Web-{72697B16-99D9-5ED0-AA0E-7AECAE656C6E}" dt="2026-01-04T20:18:41.051" v="27"/>
        <pc:sldMkLst>
          <pc:docMk/>
          <pc:sldMk cId="0" sldId="257"/>
        </pc:sldMkLst>
        <pc:spChg chg="mod">
          <ac:chgData name="nirnaysinha1@gmail.com" userId="ae26420ed2190c1f" providerId="Windows Live" clId="Web-{72697B16-99D9-5ED0-AA0E-7AECAE656C6E}" dt="2026-01-04T20:18:41.051" v="27"/>
          <ac:spMkLst>
            <pc:docMk/>
            <pc:sldMk cId="0" sldId="257"/>
            <ac:spMk id="3" creationId="{00000000-0000-0000-0000-000000000000}"/>
          </ac:spMkLst>
        </pc:spChg>
      </pc:sldChg>
      <pc:sldChg chg="modTransition">
        <pc:chgData name="nirnaysinha1@gmail.com" userId="ae26420ed2190c1f" providerId="Windows Live" clId="Web-{72697B16-99D9-5ED0-AA0E-7AECAE656C6E}" dt="2026-01-04T20:17:31.660" v="20"/>
        <pc:sldMkLst>
          <pc:docMk/>
          <pc:sldMk cId="0" sldId="259"/>
        </pc:sldMkLst>
      </pc:sldChg>
      <pc:sldChg chg="modTransition addAnim modAnim">
        <pc:chgData name="nirnaysinha1@gmail.com" userId="ae26420ed2190c1f" providerId="Windows Live" clId="Web-{72697B16-99D9-5ED0-AA0E-7AECAE656C6E}" dt="2026-01-04T20:29:36.727" v="61"/>
        <pc:sldMkLst>
          <pc:docMk/>
          <pc:sldMk cId="0" sldId="260"/>
        </pc:sldMkLst>
      </pc:sldChg>
      <pc:sldChg chg="addAnim modAnim">
        <pc:chgData name="nirnaysinha1@gmail.com" userId="ae26420ed2190c1f" providerId="Windows Live" clId="Web-{72697B16-99D9-5ED0-AA0E-7AECAE656C6E}" dt="2026-01-04T20:20:09.582" v="35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A8A8"/>
                </a:solidFill>
              </a:defRPr>
            </a:pPr>
            <a:r>
              <a:t>Career Orientation: Data Analysts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Presented by: Nirnay Sinha</a:t>
            </a:r>
            <a:br/>
            <a:r>
              <a:t>B.Tech CSE (AIML), 1st Semester</a:t>
            </a:r>
            <a:br/>
            <a:r>
              <a:t>Rungta International Skills University (RU-25-10896)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Introduction: What is a Data Analyst?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000000"/>
                </a:solidFill>
              </a:defRPr>
            </a:pPr>
            <a:r>
              <a:t>📊 A Data Analyst collects and analyzes data.</a:t>
            </a:r>
          </a:p>
          <a:p>
            <a:pPr>
              <a:spcAft>
                <a:spcPts val="2000"/>
              </a:spcAft>
              <a:defRPr sz="2400">
                <a:solidFill>
                  <a:srgbClr val="000000"/>
                </a:solidFill>
              </a:defRPr>
            </a:pPr>
            <a:r>
              <a:t>🔍 Identifies patterns, trends, and actionable insights.</a:t>
            </a:r>
          </a:p>
          <a:p>
            <a:pPr>
              <a:spcAft>
                <a:spcPts val="2000"/>
              </a:spcAft>
              <a:defRPr sz="2400">
                <a:solidFill>
                  <a:srgbClr val="000000"/>
                </a:solidFill>
              </a:defRPr>
            </a:pPr>
            <a:r>
              <a:t>🤝 Supports decision-making using data-driven evidence.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Why Does Data Analysis Matter?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8862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2400" b="1">
                <a:solidFill>
                  <a:srgbClr val="123456"/>
                </a:solidFill>
              </a:defRPr>
            </a:pPr>
            <a:r>
              <a:t>⭐ Importance</a:t>
            </a:r>
          </a:p>
          <a:p>
            <a:pPr>
              <a:spcBef>
                <a:spcPts val="1400"/>
              </a:spcBef>
              <a:defRPr sz="1800">
                <a:solidFill>
                  <a:srgbClr val="3C3C3C"/>
                </a:solidFill>
              </a:defRPr>
            </a:pPr>
            <a:r>
              <a:t>• Helps organizations make informed decisions</a:t>
            </a:r>
          </a:p>
          <a:p>
            <a:pPr>
              <a:spcBef>
                <a:spcPts val="1400"/>
              </a:spcBef>
              <a:defRPr sz="1800">
                <a:solidFill>
                  <a:srgbClr val="3C3C3C"/>
                </a:solidFill>
              </a:defRPr>
            </a:pPr>
            <a:r>
              <a:t>• Improves business efficiency and growth</a:t>
            </a:r>
          </a:p>
          <a:p>
            <a:pPr>
              <a:spcBef>
                <a:spcPts val="1400"/>
              </a:spcBef>
              <a:defRPr sz="1800">
                <a:solidFill>
                  <a:srgbClr val="3C3C3C"/>
                </a:solidFill>
              </a:defRPr>
            </a:pPr>
            <a:r>
              <a:t>• Reduces risks through data-driven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0" y="1828800"/>
            <a:ext cx="38862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2400" b="1">
                <a:solidFill>
                  <a:srgbClr val="123456"/>
                </a:solidFill>
              </a:defRPr>
            </a:pPr>
            <a:r>
              <a:t>🌍 Real-Life Example</a:t>
            </a:r>
          </a:p>
          <a:p>
            <a:pPr>
              <a:spcBef>
                <a:spcPts val="1400"/>
              </a:spcBef>
              <a:defRPr sz="1800">
                <a:solidFill>
                  <a:srgbClr val="3C3C3C"/>
                </a:solidFill>
              </a:defRPr>
            </a:pPr>
            <a:r>
              <a:t>• E-commerce companies analyze purchase data</a:t>
            </a:r>
          </a:p>
          <a:p>
            <a:pPr>
              <a:spcBef>
                <a:spcPts val="1400"/>
              </a:spcBef>
              <a:defRPr sz="1800">
                <a:solidFill>
                  <a:srgbClr val="3C3C3C"/>
                </a:solidFill>
              </a:defRPr>
            </a:pPr>
            <a:r>
              <a:t>• Used to recommend products/improve sales</a:t>
            </a:r>
          </a:p>
          <a:p>
            <a:pPr>
              <a:spcBef>
                <a:spcPts val="1400"/>
              </a:spcBef>
              <a:defRPr sz="1800">
                <a:solidFill>
                  <a:srgbClr val="3C3C3C"/>
                </a:solidFill>
              </a:defRPr>
            </a:pPr>
            <a:r>
              <a:t>• Helps manage inventory &amp; customer needs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Skills Required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137160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analysis &amp;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828800"/>
            <a:ext cx="2286000" cy="137160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Programming (Python, SQL)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828800"/>
            <a:ext cx="2286000" cy="137160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Statistics &amp;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2286000" cy="137160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visualization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383280"/>
            <a:ext cx="2286000" cy="137160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Database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3383280"/>
            <a:ext cx="2286000" cy="137160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Problem-solving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Career Pathway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5029200"/>
            <a:ext cx="2560320" cy="914400"/>
          </a:xfrm>
          <a:prstGeom prst="chevron">
            <a:avLst/>
          </a:prstGeom>
          <a:solidFill>
            <a:srgbClr val="1234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Entry Level</a:t>
            </a:r>
            <a:br/>
            <a:r>
              <a:t>Junior Data Analyst / Trainee</a:t>
            </a:r>
          </a:p>
        </p:txBody>
      </p:sp>
      <p:sp>
        <p:nvSpPr>
          <p:cNvPr id="4" name="Chevron 3"/>
          <p:cNvSpPr/>
          <p:nvPr/>
        </p:nvSpPr>
        <p:spPr>
          <a:xfrm>
            <a:off x="2468880" y="3931920"/>
            <a:ext cx="2560320" cy="914400"/>
          </a:xfrm>
          <a:prstGeom prst="chevron">
            <a:avLst/>
          </a:prstGeom>
          <a:solidFill>
            <a:srgbClr val="1234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Mid Level</a:t>
            </a:r>
            <a:br/>
            <a:r>
              <a:t>Data Analyst / Business Analyst</a:t>
            </a:r>
          </a:p>
        </p:txBody>
      </p:sp>
      <p:sp>
        <p:nvSpPr>
          <p:cNvPr id="5" name="Chevron 4"/>
          <p:cNvSpPr/>
          <p:nvPr/>
        </p:nvSpPr>
        <p:spPr>
          <a:xfrm>
            <a:off x="4480560" y="2834640"/>
            <a:ext cx="2560320" cy="914400"/>
          </a:xfrm>
          <a:prstGeom prst="chevron">
            <a:avLst/>
          </a:prstGeom>
          <a:solidFill>
            <a:srgbClr val="1234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Advanced Level</a:t>
            </a:r>
            <a:br/>
            <a:r>
              <a:t>Senior Data Analyst / Data Scientist</a:t>
            </a:r>
          </a:p>
        </p:txBody>
      </p:sp>
      <p:sp>
        <p:nvSpPr>
          <p:cNvPr id="6" name="Chevron 5"/>
          <p:cNvSpPr/>
          <p:nvPr/>
        </p:nvSpPr>
        <p:spPr>
          <a:xfrm>
            <a:off x="6492240" y="1737360"/>
            <a:ext cx="2560320" cy="914400"/>
          </a:xfrm>
          <a:prstGeom prst="chevron">
            <a:avLst/>
          </a:prstGeom>
          <a:solidFill>
            <a:srgbClr val="1234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Leadership</a:t>
            </a:r>
            <a:br/>
            <a:r>
              <a:t>Analytics Manager / Chief Data Officer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Industry Demands &amp; Opportunities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828800"/>
            <a:ext cx="274320" cy="274320"/>
          </a:xfrm>
          <a:prstGeom prst="ellipse">
            <a:avLst/>
          </a:prstGeom>
          <a:solidFill>
            <a:srgbClr val="00A8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456"/>
                </a:solidFill>
              </a:defRPr>
            </a:pPr>
            <a:r>
              <a:t>High Demand</a:t>
            </a:r>
          </a:p>
          <a:p>
            <a:pPr>
              <a:defRPr sz="1600"/>
            </a:pPr>
            <a:r>
              <a:t>Companies in IT, Finance, Healthcare need skilled analysts.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743200"/>
            <a:ext cx="274320" cy="274320"/>
          </a:xfrm>
          <a:prstGeom prst="ellipse">
            <a:avLst/>
          </a:prstGeom>
          <a:solidFill>
            <a:srgbClr val="00A8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456"/>
                </a:solidFill>
              </a:defRPr>
            </a:pPr>
            <a:r>
              <a:t>Diverse Roles</a:t>
            </a:r>
          </a:p>
          <a:p>
            <a:pPr>
              <a:defRPr sz="1600"/>
            </a:pPr>
            <a:r>
              <a:t>Data Analyst, Business Analyst, Scientist, Visualization Specialist.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657600"/>
            <a:ext cx="274320" cy="274320"/>
          </a:xfrm>
          <a:prstGeom prst="ellipse">
            <a:avLst/>
          </a:prstGeom>
          <a:solidFill>
            <a:srgbClr val="00A8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456"/>
                </a:solidFill>
              </a:defRPr>
            </a:pPr>
            <a:r>
              <a:t>AI &amp; ML Growth</a:t>
            </a:r>
          </a:p>
          <a:p>
            <a:pPr>
              <a:defRPr sz="1600"/>
            </a:pPr>
            <a:r>
              <a:t>Knowledge of AI/ML increases employability significantly.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572000"/>
            <a:ext cx="274320" cy="274320"/>
          </a:xfrm>
          <a:prstGeom prst="ellipse">
            <a:avLst/>
          </a:prstGeom>
          <a:solidFill>
            <a:srgbClr val="00A8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456"/>
                </a:solidFill>
              </a:defRPr>
            </a:pPr>
            <a:r>
              <a:t>Remote Work</a:t>
            </a:r>
          </a:p>
          <a:p>
            <a:pPr>
              <a:defRPr sz="1600"/>
            </a:pPr>
            <a:r>
              <a:t>Data projects often allow flexible remote/freelance work.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Action Plan &amp;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886200" cy="4572000"/>
          </a:xfrm>
          <a:prstGeom prst="rect">
            <a:avLst/>
          </a:prstGeom>
          <a:noFill/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3456"/>
                </a:solidFill>
              </a:defRPr>
            </a:pPr>
            <a:r>
              <a:t>📈 Action Plan</a:t>
            </a:r>
          </a:p>
          <a:p>
            <a:pPr>
              <a:spcBef>
                <a:spcPts val="1200"/>
              </a:spcBef>
              <a:defRPr sz="1600">
                <a:solidFill>
                  <a:srgbClr val="000000"/>
                </a:solidFill>
              </a:defRPr>
            </a:pPr>
            <a:r>
              <a:t>• Learn Core: Python, SQL</a:t>
            </a:r>
          </a:p>
          <a:p>
            <a:pPr>
              <a:spcBef>
                <a:spcPts val="1200"/>
              </a:spcBef>
              <a:defRPr sz="1600">
                <a:solidFill>
                  <a:srgbClr val="000000"/>
                </a:solidFill>
              </a:defRPr>
            </a:pPr>
            <a:r>
              <a:t>• Practice: Excel, Power BI, Tableau</a:t>
            </a:r>
          </a:p>
          <a:p>
            <a:pPr>
              <a:spcBef>
                <a:spcPts val="1200"/>
              </a:spcBef>
              <a:defRPr sz="1600">
                <a:solidFill>
                  <a:srgbClr val="000000"/>
                </a:solidFill>
              </a:defRPr>
            </a:pPr>
            <a:r>
              <a:t>• Build Portfolio: Mini projects</a:t>
            </a:r>
          </a:p>
          <a:p>
            <a:pPr>
              <a:spcBef>
                <a:spcPts val="1200"/>
              </a:spcBef>
              <a:defRPr sz="1600">
                <a:solidFill>
                  <a:srgbClr val="000000"/>
                </a:solidFill>
              </a:defRPr>
            </a:pPr>
            <a:r>
              <a:t>• Gain Experience: Internships</a:t>
            </a:r>
          </a:p>
          <a:p>
            <a:pPr>
              <a:spcBef>
                <a:spcPts val="1200"/>
              </a:spcBef>
              <a:defRPr sz="1600">
                <a:solidFill>
                  <a:srgbClr val="000000"/>
                </a:solidFill>
              </a:defRPr>
            </a:pPr>
            <a:r>
              <a:t>• Certifications: Online courses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1645920"/>
            <a:ext cx="3886200" cy="4572000"/>
          </a:xfrm>
          <a:prstGeom prst="rect">
            <a:avLst/>
          </a:prstGeom>
          <a:noFill/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3456"/>
                </a:solidFill>
              </a:defRPr>
            </a:pPr>
            <a:r>
              <a:t>📚 Resources &amp; Skills</a:t>
            </a:r>
          </a:p>
          <a:p>
            <a:pPr>
              <a:spcBef>
                <a:spcPts val="1200"/>
              </a:spcBef>
              <a:defRPr sz="1600">
                <a:solidFill>
                  <a:srgbClr val="000000"/>
                </a:solidFill>
              </a:defRPr>
            </a:pPr>
            <a:r>
              <a:t>• Courses: Coursera, Udemy, edX</a:t>
            </a:r>
          </a:p>
          <a:p>
            <a:pPr>
              <a:spcBef>
                <a:spcPts val="1200"/>
              </a:spcBef>
              <a:defRPr sz="1600">
                <a:solidFill>
                  <a:srgbClr val="000000"/>
                </a:solidFill>
              </a:defRPr>
            </a:pPr>
            <a:r>
              <a:t>• Tools: Python, SQL, Tableau</a:t>
            </a:r>
          </a:p>
          <a:p>
            <a:pPr>
              <a:spcBef>
                <a:spcPts val="1200"/>
              </a:spcBef>
              <a:defRPr sz="1600">
                <a:solidFill>
                  <a:srgbClr val="000000"/>
                </a:solidFill>
              </a:defRPr>
            </a:pPr>
            <a:r>
              <a:t>• Communities: Kaggle, LinkedIn</a:t>
            </a:r>
          </a:p>
          <a:p>
            <a:pPr>
              <a:spcBef>
                <a:spcPts val="1200"/>
              </a:spcBef>
              <a:defRPr sz="1600">
                <a:solidFill>
                  <a:srgbClr val="000000"/>
                </a:solidFill>
              </a:defRPr>
            </a:pPr>
            <a:r>
              <a:t>• Basics: HTML, CSS, C, Digital Literacy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3200" i="1">
                <a:solidFill>
                  <a:srgbClr val="00A8A8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linkedin.com/in/nirnaysinha-1   |   nirnaysinha1@gmail.com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316</Words>
  <Application>Microsoft Office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Nirnay Sinha</cp:lastModifiedBy>
  <cp:revision>36</cp:revision>
  <dcterms:created xsi:type="dcterms:W3CDTF">2013-01-27T09:14:16Z</dcterms:created>
  <dcterms:modified xsi:type="dcterms:W3CDTF">2026-01-04T20:29:37Z</dcterms:modified>
  <cp:category/>
</cp:coreProperties>
</file>